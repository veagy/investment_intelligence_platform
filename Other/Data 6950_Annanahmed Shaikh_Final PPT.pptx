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1DFC1F-2ACB-4BEF-881E-E7AB3B1C1936}" v="47" dt="2026-04-06T15:11:22.3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ventureflow-ai.streamlit.app/#venture-flow-intelligence" TargetMode="External"/><Relationship Id="rId2" Type="http://schemas.openxmlformats.org/officeDocument/2006/relationships/hyperlink" Target="https://github.com/veagy/Investment_Intelligence_Platfor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399" y="805164"/>
            <a:ext cx="10267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/>
              <a:t>WENTWORTH INSTITUTE OF TECHNOLOGY  |  MASTER OF SCIENCE IN DATA SCIENCE  |  SPRING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alibri"/>
              </a:defRPr>
            </a:pPr>
            <a:r>
              <a:t>VentureFlow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8FAFC"/>
                </a:solidFill>
                <a:latin typeface="Calibri"/>
              </a:defRPr>
            </a:pPr>
            <a:r>
              <a:t>A Multimodal Deep Learning Architecture for Startup Success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114800"/>
            <a:ext cx="210312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627233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Calibri"/>
              </a:defRPr>
            </a:pPr>
            <a:r>
              <a:rPr lang="en-US" sz="1750" dirty="0"/>
              <a:t>Advisor: </a:t>
            </a:r>
            <a:r>
              <a:rPr lang="en-US" dirty="0"/>
              <a:t>Dr. </a:t>
            </a:r>
            <a:r>
              <a:rPr lang="en-IN" sz="2400" dirty="0"/>
              <a:t>Weijie Pang                                               </a:t>
            </a:r>
            <a:r>
              <a:rPr lang="en-IN" sz="1750" dirty="0"/>
              <a:t>Presented By: </a:t>
            </a:r>
            <a:r>
              <a:rPr lang="en-IN" sz="2400" dirty="0"/>
              <a:t>Annanahmed Shaikh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5642279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lang="en-US" dirty="0"/>
              <a:t>Date: </a:t>
            </a:r>
            <a:r>
              <a:rPr lang="en-US" b="1" dirty="0"/>
              <a:t>04-06-2026</a:t>
            </a:r>
            <a:endParaRPr b="1" dirty="0"/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 / 18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27E188-302B-ED86-C4E1-3B792EEB8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996" y="805164"/>
            <a:ext cx="341438" cy="3414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The Startup Gamble: A $300 Billion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3749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8FAFC"/>
                </a:solidFill>
                <a:latin typeface="Calibri"/>
              </a:defRPr>
            </a:pPr>
            <a:r>
              <a:rPr dirty="0"/>
              <a:t>$300B+ invested in startups every year worldwide</a:t>
            </a:r>
          </a:p>
          <a:p>
            <a:pPr>
              <a:spcAft>
                <a:spcPts val="900"/>
              </a:spcAft>
              <a:defRPr sz="1800" b="1">
                <a:solidFill>
                  <a:srgbClr val="F87171"/>
                </a:solidFill>
                <a:latin typeface="Calibri"/>
              </a:defRPr>
            </a:pPr>
            <a:r>
              <a:rPr dirty="0"/>
              <a:t>75-80% of these investments FAIL to return capital</a:t>
            </a:r>
          </a:p>
          <a:p>
            <a:pPr>
              <a:spcAft>
                <a:spcPts val="900"/>
              </a:spcAft>
              <a:defRPr sz="1800" b="0">
                <a:solidFill>
                  <a:srgbClr val="F8FAFC"/>
                </a:solidFill>
                <a:latin typeface="Calibri"/>
              </a:defRPr>
            </a:pPr>
            <a:r>
              <a:rPr dirty="0"/>
              <a:t>Early-stage startups: no revenue, no customers, no product</a:t>
            </a:r>
          </a:p>
          <a:p>
            <a:pPr>
              <a:spcAft>
                <a:spcPts val="900"/>
              </a:spcAft>
              <a:defRPr sz="1800" b="0">
                <a:solidFill>
                  <a:srgbClr val="FBBF24"/>
                </a:solidFill>
                <a:latin typeface="Calibri"/>
              </a:defRPr>
            </a:pPr>
            <a:r>
              <a:rPr dirty="0"/>
              <a:t>Investors rely on gut feeling, not data</a:t>
            </a:r>
          </a:p>
          <a:p>
            <a:pPr>
              <a:spcAft>
                <a:spcPts val="900"/>
              </a:spcAft>
              <a:defRPr sz="1800" b="1">
                <a:solidFill>
                  <a:srgbClr val="60A5FA"/>
                </a:solidFill>
                <a:latin typeface="Calibri"/>
              </a:defRPr>
            </a:pPr>
            <a:r>
              <a:rPr dirty="0"/>
              <a:t>Question: How do you evaluate a company with only a story?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371600"/>
            <a:ext cx="219456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Calibri"/>
              </a:defRPr>
            </a:pPr>
            <a:r>
              <a:t>47,833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468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Startups Analyzed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371600"/>
            <a:ext cx="219456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2468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Failure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657600"/>
            <a:ext cx="219456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Calibri"/>
              </a:defRPr>
            </a:pPr>
            <a:r>
              <a:t>$300B+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754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Annual Investment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3657600"/>
            <a:ext cx="219456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Calibri"/>
              </a:defRPr>
            </a:pPr>
            <a:r>
              <a:t>&lt;1%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4754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Become Unicorns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What We Set Out to Achieve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124712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6420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64207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Calibri"/>
              </a:defRPr>
            </a:pPr>
            <a:r>
              <a:t>Clean &amp; structure 47,833-record startup dataset using a Star Schema data warehouse with automated ETL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59152"/>
            <a:ext cx="1124712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Calibri"/>
              </a:defRPr>
            </a:pPr>
            <a:r>
              <a:t>Establish performance benchmarks using Logistic Regression and Random Forest on tabular features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63824"/>
            <a:ext cx="1124712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2735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7355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Calibri"/>
              </a:defRPr>
            </a:pPr>
            <a:r>
              <a:t>Design a Dual-Encoder Fusion model combining Sentence-BERT text embeddings with log-normalized financial signals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68496"/>
            <a:ext cx="1124712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0782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7822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Calibri"/>
              </a:defRPr>
            </a:pPr>
            <a:r>
              <a:t>Conduct an 11-step weight ablation study to find the optimal financial-to-semantic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73168"/>
            <a:ext cx="1124712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8828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882896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Calibri"/>
              </a:defRPr>
            </a:pPr>
            <a:r>
              <a:t>Validate temporal generalization on out-of-distribution 2024-2025 AI companies not in training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577840"/>
            <a:ext cx="11247120" cy="65836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687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68756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Calibri"/>
              </a:defRPr>
            </a:pPr>
            <a:r>
              <a:t>Deploy the complete system as a production Streamlit dashboard with real-time data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47,833 Real Startups from Around the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943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F8FAFC"/>
                </a:solidFill>
                <a:latin typeface="Calibri"/>
              </a:defRPr>
            </a:pPr>
            <a:r>
              <a:rPr dirty="0"/>
              <a:t>Source: Crunchbase (the 'LinkedIn of Startups')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F8FAFC"/>
                </a:solidFill>
                <a:latin typeface="Calibri"/>
              </a:defRPr>
            </a:pPr>
            <a:r>
              <a:rPr dirty="0"/>
              <a:t>Time Span: </a:t>
            </a:r>
            <a:r>
              <a:rPr lang="en-US" dirty="0"/>
              <a:t>1902</a:t>
            </a:r>
            <a:r>
              <a:rPr dirty="0"/>
              <a:t> - 20</a:t>
            </a:r>
            <a:r>
              <a:rPr lang="en-US" dirty="0"/>
              <a:t>14</a:t>
            </a:r>
            <a:r>
              <a:rPr dirty="0"/>
              <a:t> </a:t>
            </a:r>
            <a:r>
              <a:rPr lang="en-US" dirty="0"/>
              <a:t>+ Live Data ( News API )</a:t>
            </a:r>
            <a:endParaRPr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F8FAFC"/>
                </a:solidFill>
                <a:latin typeface="Calibri"/>
              </a:defRPr>
            </a:pPr>
            <a:r>
              <a:rPr dirty="0"/>
              <a:t>Geography: 67% United States, rest global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F8FAFC"/>
                </a:solidFill>
                <a:latin typeface="Calibri"/>
              </a:defRPr>
            </a:pPr>
            <a:r>
              <a:rPr dirty="0"/>
              <a:t>15+ Industry Sectors: AI, Biotech, SaaS, Fintech</a:t>
            </a:r>
          </a:p>
          <a:p>
            <a:pPr>
              <a:spcAft>
                <a:spcPts val="800"/>
              </a:spcAft>
              <a:defRPr sz="1600" b="0">
                <a:solidFill>
                  <a:srgbClr val="F8FAFC"/>
                </a:solidFill>
                <a:latin typeface="Calibri"/>
              </a:defRPr>
            </a:pPr>
            <a:endParaRPr dirty="0"/>
          </a:p>
          <a:p>
            <a:pPr>
              <a:spcAft>
                <a:spcPts val="800"/>
              </a:spcAft>
              <a:defRPr sz="1600" b="1">
                <a:solidFill>
                  <a:srgbClr val="60A5FA"/>
                </a:solidFill>
                <a:latin typeface="Calibri"/>
              </a:defRPr>
            </a:pPr>
            <a:r>
              <a:rPr dirty="0"/>
              <a:t>Each record contains: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F8FAFC"/>
                </a:solidFill>
                <a:latin typeface="Calibri"/>
              </a:defRPr>
            </a:pPr>
            <a:r>
              <a:rPr dirty="0"/>
              <a:t>  Business Description (what the startup does)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34D399"/>
                </a:solidFill>
                <a:latin typeface="Calibri"/>
              </a:defRPr>
            </a:pPr>
            <a:r>
              <a:rPr dirty="0"/>
              <a:t>  Funding Raised (how much money they got)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F8FAFC"/>
                </a:solidFill>
                <a:latin typeface="Calibri"/>
              </a:defRPr>
            </a:pPr>
            <a:r>
              <a:rPr dirty="0"/>
              <a:t>  Location (country, city, region)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 b="0">
                <a:solidFill>
                  <a:srgbClr val="FBBF24"/>
                </a:solidFill>
                <a:latin typeface="Calibri"/>
              </a:defRPr>
            </a:pPr>
            <a:r>
              <a:rPr dirty="0"/>
              <a:t>  Outcome: Success (acquired/IPO) or Failure (closed)</a:t>
            </a:r>
          </a:p>
        </p:txBody>
      </p:sp>
      <p:pic>
        <p:nvPicPr>
          <p:cNvPr id="5" name="Picture 4" descr="statu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783" y="1371600"/>
            <a:ext cx="4990537" cy="2743200"/>
          </a:xfrm>
          <a:prstGeom prst="rect">
            <a:avLst/>
          </a:prstGeom>
        </p:spPr>
      </p:pic>
      <p:pic>
        <p:nvPicPr>
          <p:cNvPr id="6" name="Picture 5" descr="persona_cluste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783" y="4206240"/>
            <a:ext cx="4990537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DATA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Real-World Data Is Messy - Our Solutions</a:t>
            </a:r>
          </a:p>
        </p:txBody>
      </p:sp>
      <p:pic>
        <p:nvPicPr>
          <p:cNvPr id="16" name="Picture 15" descr="funding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878" y="1371600"/>
            <a:ext cx="4941442" cy="288250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836521" y="4389119"/>
            <a:ext cx="4867799" cy="1882805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79" y="44805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Calibri"/>
              </a:defRPr>
            </a:pPr>
            <a:r>
              <a:t>Star Schema Data Warehouse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9259" y="4937760"/>
            <a:ext cx="45621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/>
              <a:t>Clean data loaded into SQLite star schema:</a:t>
            </a:r>
            <a:br>
              <a:rPr dirty="0"/>
            </a:br>
            <a:r>
              <a:rPr dirty="0"/>
              <a:t>- </a:t>
            </a:r>
            <a:r>
              <a:rPr dirty="0" err="1"/>
              <a:t>dim_startup</a:t>
            </a:r>
            <a:r>
              <a:rPr dirty="0"/>
              <a:t> (company details)</a:t>
            </a:r>
            <a:br>
              <a:rPr dirty="0"/>
            </a:br>
            <a:r>
              <a:rPr dirty="0"/>
              <a:t>- </a:t>
            </a:r>
            <a:r>
              <a:rPr dirty="0" err="1"/>
              <a:t>dim_time</a:t>
            </a:r>
            <a:r>
              <a:rPr dirty="0"/>
              <a:t> (temporal analysis)</a:t>
            </a:r>
            <a:br>
              <a:rPr dirty="0"/>
            </a:br>
            <a:r>
              <a:rPr dirty="0"/>
              <a:t>- </a:t>
            </a:r>
            <a:r>
              <a:rPr dirty="0" err="1"/>
              <a:t>fact_funding_rounds</a:t>
            </a:r>
            <a:r>
              <a:rPr dirty="0"/>
              <a:t> (financial events)</a:t>
            </a:r>
            <a:endParaRPr lang="en-US" dirty="0"/>
          </a:p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br>
              <a:rPr dirty="0"/>
            </a:br>
            <a:r>
              <a:rPr dirty="0"/>
              <a:t>Same design used by </a:t>
            </a:r>
            <a:r>
              <a:rPr b="1" dirty="0"/>
              <a:t>Amazon &amp; Netflix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 / 18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E8B57C4-4731-D73A-7934-3AA2E8953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985477"/>
            <a:ext cx="5531134" cy="35498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DATABASE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Star Schema Data Warehouse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36576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41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rPr dirty="0" err="1"/>
              <a:t>dim_startup</a:t>
            </a:r>
            <a:r>
              <a:rPr dirty="0"/>
              <a:t> (Dimension)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27185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 err="1"/>
              <a:t>startup_id</a:t>
            </a:r>
            <a:r>
              <a:rPr dirty="0"/>
              <a:t>  (PK)</a:t>
            </a:r>
            <a:br>
              <a:rPr dirty="0"/>
            </a:br>
            <a:r>
              <a:rPr dirty="0"/>
              <a:t>name</a:t>
            </a:r>
            <a:br>
              <a:rPr dirty="0"/>
            </a:br>
            <a:r>
              <a:rPr dirty="0" err="1"/>
              <a:t>category_list</a:t>
            </a:r>
            <a:br>
              <a:rPr dirty="0"/>
            </a:br>
            <a:r>
              <a:rPr dirty="0"/>
              <a:t>status</a:t>
            </a:r>
            <a:br>
              <a:rPr dirty="0"/>
            </a:br>
            <a:r>
              <a:rPr dirty="0" err="1"/>
              <a:t>country_code</a:t>
            </a:r>
            <a:br>
              <a:rPr dirty="0"/>
            </a:br>
            <a:r>
              <a:rPr dirty="0" err="1"/>
              <a:t>state_code</a:t>
            </a:r>
            <a:br>
              <a:rPr dirty="0"/>
            </a:br>
            <a:r>
              <a:rPr dirty="0"/>
              <a:t>city</a:t>
            </a:r>
            <a:br>
              <a:rPr dirty="0"/>
            </a:br>
            <a:r>
              <a:rPr dirty="0" err="1"/>
              <a:t>founded_at</a:t>
            </a:r>
            <a:br>
              <a:rPr dirty="0"/>
            </a:br>
            <a:r>
              <a:rPr dirty="0" err="1"/>
              <a:t>first_funding_at</a:t>
            </a:r>
            <a:br>
              <a:rPr dirty="0"/>
            </a:br>
            <a:r>
              <a:rPr dirty="0" err="1"/>
              <a:t>last_funding_at</a:t>
            </a:r>
            <a:br>
              <a:rPr dirty="0"/>
            </a:br>
            <a:r>
              <a:rPr dirty="0"/>
              <a:t>description</a:t>
            </a:r>
            <a:br>
              <a:rPr dirty="0"/>
            </a:br>
            <a:r>
              <a:rPr dirty="0" err="1"/>
              <a:t>embeddings_json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4747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2294597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rPr dirty="0" err="1"/>
              <a:t>fact_funding_rounds</a:t>
            </a:r>
            <a:r>
              <a:rPr dirty="0"/>
              <a:t> (Fact)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832183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 err="1"/>
              <a:t>round_id</a:t>
            </a:r>
            <a:r>
              <a:rPr dirty="0"/>
              <a:t>  (PK)</a:t>
            </a:r>
            <a:br>
              <a:rPr dirty="0"/>
            </a:br>
            <a:r>
              <a:rPr dirty="0" err="1"/>
              <a:t>startup_id</a:t>
            </a:r>
            <a:r>
              <a:rPr dirty="0"/>
              <a:t>  (FK)</a:t>
            </a:r>
            <a:br>
              <a:rPr dirty="0"/>
            </a:br>
            <a:r>
              <a:rPr dirty="0" err="1"/>
              <a:t>funding_round_type</a:t>
            </a:r>
            <a:br>
              <a:rPr dirty="0"/>
            </a:br>
            <a:r>
              <a:rPr dirty="0" err="1"/>
              <a:t>funding_round_code</a:t>
            </a:r>
            <a:br>
              <a:rPr dirty="0"/>
            </a:br>
            <a:r>
              <a:rPr dirty="0" err="1"/>
              <a:t>raised_amount_usd</a:t>
            </a:r>
            <a:br>
              <a:rPr dirty="0"/>
            </a:br>
            <a:r>
              <a:rPr dirty="0"/>
              <a:t>participants</a:t>
            </a:r>
            <a:br>
              <a:rPr dirty="0"/>
            </a:br>
            <a:r>
              <a:rPr dirty="0" err="1"/>
              <a:t>is_first_round</a:t>
            </a:r>
            <a:br>
              <a:rPr dirty="0"/>
            </a:br>
            <a:r>
              <a:rPr dirty="0" err="1"/>
              <a:t>is_last_round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8412480" y="2286000"/>
            <a:ext cx="32004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0" y="25738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rPr dirty="0" err="1"/>
              <a:t>dim_time</a:t>
            </a:r>
            <a:r>
              <a:rPr dirty="0"/>
              <a:t> (Dimension)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093009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 err="1"/>
              <a:t>date_key</a:t>
            </a:r>
            <a:r>
              <a:rPr dirty="0"/>
              <a:t>  (PK)</a:t>
            </a:r>
            <a:br>
              <a:rPr dirty="0"/>
            </a:br>
            <a:r>
              <a:rPr dirty="0"/>
              <a:t>year</a:t>
            </a:r>
            <a:br>
              <a:rPr dirty="0"/>
            </a:br>
            <a:r>
              <a:rPr dirty="0"/>
              <a:t>quarter</a:t>
            </a:r>
            <a:br>
              <a:rPr dirty="0"/>
            </a:br>
            <a:r>
              <a:rPr dirty="0"/>
              <a:t>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200400"/>
            <a:ext cx="45720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63840" y="3200400"/>
            <a:ext cx="5486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47837" y="5575383"/>
            <a:ext cx="7493178" cy="1050641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63215" y="5689837"/>
            <a:ext cx="718755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/>
              <a:t>Why Star Schema? Enables fast analytical queries (e.g., 'show all Seed-funded AI startups in California')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/>
              <a:t>Same architecture used by Amazon, Netflix, and Spotify for data analytics. Maintains referential integrity.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METHODOLOGY /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The Dual-Encoder Fusion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6576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Branch A - Semantic Reader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9184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/>
              <a:t>Sentence-BERT (all-MiniLM-L6-v2)</a:t>
            </a:r>
            <a:br>
              <a:rPr dirty="0"/>
            </a:br>
            <a:r>
              <a:rPr dirty="0"/>
              <a:t>22 million parameters</a:t>
            </a:r>
            <a:br>
              <a:rPr dirty="0"/>
            </a:br>
            <a:r>
              <a:rPr dirty="0"/>
              <a:t>Converts text to 384-dim vector</a:t>
            </a:r>
            <a:br>
              <a:rPr dirty="0"/>
            </a:br>
            <a:r>
              <a:rPr dirty="0"/>
              <a:t>Compares to 'Unicorn Centroid'</a:t>
            </a:r>
            <a:br>
              <a:rPr dirty="0"/>
            </a:br>
            <a:r>
              <a:rPr dirty="0"/>
              <a:t>(average DNA of past winners)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39"/>
            <a:ext cx="36576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Calibri"/>
              </a:defRPr>
            </a:pPr>
            <a:r>
              <a:t>Branch B - Financial Accountant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Log-normalizes total funding</a:t>
            </a:r>
            <a:br/>
            <a:r>
              <a:t>Caps at $1 Billion ceiling</a:t>
            </a:r>
            <a:br/>
            <a:r>
              <a:t>Scales to 0-1 range</a:t>
            </a:r>
            <a:br/>
            <a:r>
              <a:t>Acts as 'reality check'</a:t>
            </a:r>
            <a:br/>
            <a:r>
              <a:t>(no money = no high score)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43600"/>
            <a:ext cx="36576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07523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Calibri"/>
              </a:defRPr>
            </a:pPr>
            <a:r>
              <a:rPr dirty="0"/>
              <a:t>Score = 0.6 x Financial + 0.4 x Semantic</a:t>
            </a:r>
          </a:p>
        </p:txBody>
      </p:sp>
      <p:pic>
        <p:nvPicPr>
          <p:cNvPr id="12" name="Picture 11" descr="flowchart of 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1" y="1371600"/>
            <a:ext cx="3755790" cy="53299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Calibri"/>
              </a:defRPr>
            </a:pPr>
            <a:r>
              <a:t>Key Innovations: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7791" y="1920240"/>
            <a:ext cx="3559409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50"/>
              </a:spcAft>
              <a:buFont typeface="Arial" panose="020B0604020202020204" pitchFamily="34" charset="0"/>
              <a:buChar char="•"/>
              <a:defRPr sz="1500" b="0">
                <a:solidFill>
                  <a:srgbClr val="34D399"/>
                </a:solidFill>
                <a:latin typeface="Calibri"/>
              </a:defRPr>
            </a:pPr>
            <a:r>
              <a:rPr dirty="0"/>
              <a:t>Separate processing prevents dimensional conflict</a:t>
            </a:r>
          </a:p>
          <a:p>
            <a:pPr marL="285750" indent="-285750">
              <a:spcAft>
                <a:spcPts val="750"/>
              </a:spcAft>
              <a:buFont typeface="Arial" panose="020B0604020202020204" pitchFamily="34" charset="0"/>
              <a:buChar char="•"/>
              <a:defRPr sz="1500" b="0">
                <a:solidFill>
                  <a:srgbClr val="34D399"/>
                </a:solidFill>
                <a:latin typeface="Calibri"/>
              </a:defRPr>
            </a:pPr>
            <a:r>
              <a:rPr dirty="0"/>
              <a:t>Text compressed to single score before fusion</a:t>
            </a:r>
          </a:p>
          <a:p>
            <a:pPr marL="285750" indent="-285750">
              <a:spcAft>
                <a:spcPts val="750"/>
              </a:spcAft>
              <a:buFont typeface="Arial" panose="020B0604020202020204" pitchFamily="34" charset="0"/>
              <a:buChar char="•"/>
              <a:defRPr sz="1500" b="0">
                <a:solidFill>
                  <a:srgbClr val="34D399"/>
                </a:solidFill>
                <a:latin typeface="Calibri"/>
              </a:defRPr>
            </a:pPr>
            <a:r>
              <a:rPr dirty="0"/>
              <a:t>Financial branch prevents 'hallucination'</a:t>
            </a:r>
          </a:p>
          <a:p>
            <a:pPr marL="285750" indent="-285750">
              <a:spcAft>
                <a:spcPts val="750"/>
              </a:spcAft>
              <a:buFont typeface="Arial" panose="020B0604020202020204" pitchFamily="34" charset="0"/>
              <a:buChar char="•"/>
              <a:defRPr sz="1500" b="0">
                <a:solidFill>
                  <a:srgbClr val="34D399"/>
                </a:solidFill>
                <a:latin typeface="Calibri"/>
              </a:defRPr>
            </a:pPr>
            <a:r>
              <a:rPr dirty="0"/>
              <a:t>60/40 split validated by 11-step ablation</a:t>
            </a:r>
          </a:p>
          <a:p>
            <a:pPr>
              <a:spcAft>
                <a:spcPts val="750"/>
              </a:spcAft>
              <a:defRPr sz="1500" b="0">
                <a:solidFill>
                  <a:srgbClr val="F8FAFC"/>
                </a:solidFill>
                <a:latin typeface="Calibri"/>
              </a:defRPr>
            </a:pPr>
            <a:endParaRPr dirty="0"/>
          </a:p>
          <a:p>
            <a:pPr>
              <a:spcAft>
                <a:spcPts val="750"/>
              </a:spcAft>
              <a:defRPr sz="1500" b="1">
                <a:solidFill>
                  <a:srgbClr val="F87171"/>
                </a:solidFill>
                <a:latin typeface="Calibri"/>
              </a:defRPr>
            </a:pPr>
            <a:r>
              <a:rPr dirty="0"/>
              <a:t>Naive concatenation FAILED (0.642 AUC)</a:t>
            </a:r>
          </a:p>
          <a:p>
            <a:pPr>
              <a:spcAft>
                <a:spcPts val="750"/>
              </a:spcAft>
              <a:defRPr sz="1500" b="1">
                <a:solidFill>
                  <a:srgbClr val="34D399"/>
                </a:solidFill>
                <a:latin typeface="Calibri"/>
              </a:defRPr>
            </a:pPr>
            <a:r>
              <a:rPr dirty="0"/>
              <a:t>Our Dual-Encoder SUCCEEDED (0.740 AUC)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MODELS EVALUATED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From Baseline to Breakthrough</a:t>
            </a:r>
          </a:p>
        </p:txBody>
      </p:sp>
      <p:pic>
        <p:nvPicPr>
          <p:cNvPr id="24" name="Picture 2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52172"/>
            <a:ext cx="5486400" cy="2743200"/>
          </a:xfrm>
          <a:prstGeom prst="rect">
            <a:avLst/>
          </a:prstGeom>
        </p:spPr>
      </p:pic>
      <p:pic>
        <p:nvPicPr>
          <p:cNvPr id="25" name="Picture 24" descr="performance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16" y="3952172"/>
            <a:ext cx="5334204" cy="2743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8 / 18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57F2CC2-F4EA-5264-A076-F364FEA67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31202"/>
            <a:ext cx="10086016" cy="23877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Our Model Outperforms Every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01415"/>
            <a:ext cx="347472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917593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34D399"/>
                </a:solidFill>
                <a:latin typeface="Calibri"/>
              </a:defRPr>
            </a:pPr>
            <a:r>
              <a:rPr dirty="0"/>
              <a:t>0.740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44057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ROC-AUC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47472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16916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60A5FA"/>
                </a:solidFill>
                <a:latin typeface="Calibri"/>
              </a:defRPr>
            </a:pPr>
            <a:r>
              <a:t>85.3%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423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Top-10% Precision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54480"/>
            <a:ext cx="347472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16916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A78BFA"/>
                </a:solidFill>
                <a:latin typeface="Calibri"/>
              </a:defRPr>
            </a:pPr>
            <a:r>
              <a:t>+10%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423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Over Best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54500"/>
            <a:ext cx="548640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65936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Calibri"/>
              </a:defRPr>
            </a:pPr>
            <a:r>
              <a:t>What Does 85.3% Precision Mean?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75908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/>
              <a:t>When the model picks its top 10% most confident predictions,</a:t>
            </a:r>
            <a:br>
              <a:rPr dirty="0"/>
            </a:br>
            <a:r>
              <a:rPr dirty="0"/>
              <a:t>85 out of 100 were ACTUALLY successful companies.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548640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04484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rPr dirty="0"/>
              <a:t>Critical: Naive Fusion FAILED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48504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/>
              <a:t>Concatenating text + financial features DEGRADED performance</a:t>
            </a:r>
            <a:br>
              <a:rPr dirty="0"/>
            </a:br>
            <a:r>
              <a:rPr dirty="0"/>
              <a:t>from 0.675 to 0.642. HOW you combine data matters.</a:t>
            </a:r>
          </a:p>
        </p:txBody>
      </p:sp>
      <p:pic>
        <p:nvPicPr>
          <p:cNvPr id="19" name="Picture 18" descr="semantic_discover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181481"/>
            <a:ext cx="5486400" cy="331075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6560053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rPr dirty="0"/>
              <a:t>Startup Semantic Space - AI Cluster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ABLATION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Finding the Perfect Balance: 60/40 Split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760720"/>
            <a:ext cx="502920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1888" y="5873947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rPr dirty="0"/>
              <a:t>Key: Pure text = coin flip. Any financial grounding</a:t>
            </a:r>
            <a:br>
              <a:rPr dirty="0"/>
            </a:br>
            <a:r>
              <a:rPr dirty="0"/>
              <a:t>makes performance jump. 60/40 = optimal balance.</a:t>
            </a:r>
          </a:p>
        </p:txBody>
      </p:sp>
      <p:pic>
        <p:nvPicPr>
          <p:cNvPr id="28" name="Picture 27" descr="abla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044" y="1371600"/>
            <a:ext cx="5059068" cy="2560320"/>
          </a:xfrm>
          <a:prstGeom prst="rect">
            <a:avLst/>
          </a:prstGeom>
        </p:spPr>
      </p:pic>
      <p:pic>
        <p:nvPicPr>
          <p:cNvPr id="29" name="Picture 28" descr="sector_velo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044" y="4114800"/>
            <a:ext cx="5059068" cy="2560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10 / 18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4D0B294-735B-209C-6366-AC3A7E6FE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539777"/>
            <a:ext cx="5710397" cy="39009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LIVE VALIDATION (OUT-OF-DISTRIBUTION)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Testing on 2024-2025 AI Companies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212080"/>
            <a:ext cx="6400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3035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Why Anthropic Scored Lower (0.658)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76072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Despite $7.3B funding, Anthropic's focus on 'AI safety' is absent</a:t>
            </a:r>
            <a:br/>
            <a:r>
              <a:t>from historical unicorn language. Model reads MEANING, not MONEY.</a:t>
            </a:r>
          </a:p>
        </p:txBody>
      </p:sp>
      <p:pic>
        <p:nvPicPr>
          <p:cNvPr id="35" name="Picture 34" descr="investment_opport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765" y="1371600"/>
            <a:ext cx="4621096" cy="2560320"/>
          </a:xfrm>
          <a:prstGeom prst="rect">
            <a:avLst/>
          </a:prstGeom>
        </p:spPr>
      </p:pic>
      <p:pic>
        <p:nvPicPr>
          <p:cNvPr id="36" name="Picture 35" descr="live_data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764" y="4114800"/>
            <a:ext cx="4621096" cy="2560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11 / 18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1450816-94D3-28E4-6A99-AC150722C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" y="1556129"/>
            <a:ext cx="5691987" cy="33212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LIVE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Production-Ready Streamlit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937760" cy="2990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1">
                <a:solidFill>
                  <a:srgbClr val="60A5FA"/>
                </a:solidFill>
                <a:latin typeface="Calibri"/>
              </a:defRPr>
            </a:pPr>
            <a:r>
              <a:rPr dirty="0"/>
              <a:t>8 Interactive Tabs:</a:t>
            </a:r>
          </a:p>
          <a:p>
            <a:pPr>
              <a:spcAft>
                <a:spcPts val="750"/>
              </a:spcAft>
              <a:defRPr sz="1500" b="0">
                <a:solidFill>
                  <a:srgbClr val="F8FAFC"/>
                </a:solidFill>
                <a:latin typeface="Calibri"/>
              </a:defRPr>
            </a:pPr>
            <a:r>
              <a:rPr dirty="0"/>
              <a:t>  Overview | Gems | Predictor | Analytics</a:t>
            </a:r>
          </a:p>
          <a:p>
            <a:pPr>
              <a:spcAft>
                <a:spcPts val="750"/>
              </a:spcAft>
              <a:defRPr sz="1500" b="0">
                <a:solidFill>
                  <a:srgbClr val="F8FAFC"/>
                </a:solidFill>
                <a:latin typeface="Calibri"/>
              </a:defRPr>
            </a:pPr>
            <a:r>
              <a:rPr dirty="0"/>
              <a:t>  News Brief | Portfolio | Benchmarks | Export</a:t>
            </a:r>
          </a:p>
          <a:p>
            <a:pPr>
              <a:spcAft>
                <a:spcPts val="750"/>
              </a:spcAft>
              <a:defRPr sz="1500" b="1">
                <a:solidFill>
                  <a:srgbClr val="34D399"/>
                </a:solidFill>
                <a:latin typeface="Calibri"/>
              </a:defRPr>
            </a:pPr>
            <a:r>
              <a:rPr dirty="0"/>
              <a:t>Key Features:</a:t>
            </a:r>
          </a:p>
          <a:p>
            <a:pPr marL="285750" indent="-285750">
              <a:spcAft>
                <a:spcPts val="750"/>
              </a:spcAft>
              <a:buFont typeface="Arial" panose="020B0604020202020204" pitchFamily="34" charset="0"/>
              <a:buChar char="•"/>
              <a:defRPr sz="1500" b="0">
                <a:solidFill>
                  <a:srgbClr val="F8FAFC"/>
                </a:solidFill>
                <a:latin typeface="Calibri"/>
              </a:defRPr>
            </a:pPr>
            <a:r>
              <a:rPr dirty="0"/>
              <a:t>  Real-time startup prediction (type any idea)</a:t>
            </a:r>
          </a:p>
          <a:p>
            <a:pPr marL="285750" indent="-285750">
              <a:spcAft>
                <a:spcPts val="750"/>
              </a:spcAft>
              <a:buFont typeface="Arial" panose="020B0604020202020204" pitchFamily="34" charset="0"/>
              <a:buChar char="•"/>
              <a:defRPr sz="1500" b="0">
                <a:solidFill>
                  <a:srgbClr val="F8FAFC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NewsAPI</a:t>
            </a:r>
            <a:r>
              <a:rPr dirty="0"/>
              <a:t> integration for live news discovery</a:t>
            </a:r>
          </a:p>
          <a:p>
            <a:pPr marL="285750" indent="-285750">
              <a:spcAft>
                <a:spcPts val="750"/>
              </a:spcAft>
              <a:buFont typeface="Arial" panose="020B0604020202020204" pitchFamily="34" charset="0"/>
              <a:buChar char="•"/>
              <a:defRPr sz="1500" b="0">
                <a:solidFill>
                  <a:srgbClr val="F8FAFC"/>
                </a:solidFill>
                <a:latin typeface="Calibri"/>
              </a:defRPr>
            </a:pPr>
            <a:r>
              <a:rPr dirty="0"/>
              <a:t>  Investment watchlist &amp; memo export</a:t>
            </a:r>
          </a:p>
          <a:p>
            <a:pPr marL="285750" indent="-285750">
              <a:spcAft>
                <a:spcPts val="750"/>
              </a:spcAft>
              <a:buFont typeface="Arial" panose="020B0604020202020204" pitchFamily="34" charset="0"/>
              <a:buChar char="•"/>
              <a:defRPr sz="1500" b="0">
                <a:solidFill>
                  <a:srgbClr val="F8FAFC"/>
                </a:solidFill>
                <a:latin typeface="Calibri"/>
              </a:defRPr>
            </a:pPr>
            <a:r>
              <a:rPr dirty="0"/>
              <a:t>  664 lines of production Python code</a:t>
            </a:r>
          </a:p>
          <a:p>
            <a:pPr marL="285750" indent="-285750">
              <a:spcAft>
                <a:spcPts val="750"/>
              </a:spcAft>
              <a:buFont typeface="Arial" panose="020B0604020202020204" pitchFamily="34" charset="0"/>
              <a:buChar char="•"/>
              <a:defRPr sz="1500" b="0">
                <a:solidFill>
                  <a:srgbClr val="F8FAFC"/>
                </a:solidFill>
                <a:latin typeface="Calibri"/>
              </a:defRPr>
            </a:pPr>
            <a:r>
              <a:rPr dirty="0"/>
              <a:t>  Deployed on </a:t>
            </a:r>
            <a:r>
              <a:rPr dirty="0" err="1"/>
              <a:t>Streamlit</a:t>
            </a:r>
            <a:r>
              <a:rPr dirty="0"/>
              <a:t> Cloud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937760"/>
            <a:ext cx="530352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03108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Calibri"/>
              </a:defRPr>
            </a:pPr>
            <a:r>
              <a:t>Live Demo Available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52737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dirty="0"/>
              <a:t>The dashboard is deployed on </a:t>
            </a:r>
            <a:r>
              <a:rPr dirty="0" err="1"/>
              <a:t>Streamlit</a:t>
            </a:r>
            <a:r>
              <a:rPr dirty="0"/>
              <a:t> Cloud.</a:t>
            </a:r>
            <a:br>
              <a:rPr dirty="0"/>
            </a:br>
            <a:r>
              <a:rPr dirty="0"/>
              <a:t>Type any startup idea and get an instant AI score.</a:t>
            </a:r>
            <a:br>
              <a:rPr dirty="0"/>
            </a:br>
            <a:r>
              <a:rPr dirty="0"/>
              <a:t>Connects to live </a:t>
            </a:r>
            <a:r>
              <a:rPr dirty="0" err="1"/>
              <a:t>NewsAPI</a:t>
            </a:r>
            <a:r>
              <a:rPr dirty="0"/>
              <a:t> for real-time discovery.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12 / 18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4D7001-7787-C8FE-1444-8405087B9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991" y="1547044"/>
            <a:ext cx="7460537" cy="31722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What We Learned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4747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91639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0A5FA"/>
                </a:solidFill>
                <a:latin typeface="Calibri"/>
              </a:defRPr>
            </a:pPr>
            <a:r>
              <a:rPr lang="en-IN" sz="1600" dirty="0"/>
              <a:t>📖 </a:t>
            </a:r>
            <a:r>
              <a:rPr dirty="0"/>
              <a:t>Words Have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10896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/>
              <a:t>Startup descriptions contain real</a:t>
            </a:r>
            <a:br>
              <a:rPr dirty="0"/>
            </a:br>
            <a:r>
              <a:rPr dirty="0"/>
              <a:t>predictive signal about success</a:t>
            </a:r>
            <a:r>
              <a:rPr lang="en-US" dirty="0"/>
              <a:t> in the way the founder talk.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4747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691639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Calibri"/>
              </a:defRPr>
            </a:pPr>
            <a:r>
              <a:rPr lang="en-IN" sz="1600" dirty="0"/>
              <a:t>💰</a:t>
            </a:r>
            <a:r>
              <a:rPr lang="en-US" dirty="0"/>
              <a:t> </a:t>
            </a:r>
            <a:r>
              <a:rPr dirty="0"/>
              <a:t>But Money Is 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94560"/>
            <a:ext cx="310896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/>
              <a:t>Pure text alone = coin flip (0.50).</a:t>
            </a:r>
            <a:br>
              <a:rPr dirty="0"/>
            </a:br>
            <a:r>
              <a:rPr dirty="0"/>
              <a:t>Financial grounding is </a:t>
            </a:r>
            <a:r>
              <a:rPr lang="en-US" dirty="0"/>
              <a:t>non-negotiable for any reliable prediction.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8138160" y="1554480"/>
            <a:ext cx="34747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691639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8BFA"/>
                </a:solidFill>
                <a:latin typeface="Calibri"/>
              </a:defRPr>
            </a:pPr>
            <a:r>
              <a:rPr lang="en-IN" sz="1600" dirty="0"/>
              <a:t>🤝 </a:t>
            </a:r>
            <a:r>
              <a:rPr dirty="0"/>
              <a:t>Fusion Method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1945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HOW you combine data matters as</a:t>
            </a:r>
            <a:br/>
            <a:r>
              <a:t>much as WHAT you combine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34747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Calibri"/>
              </a:defRPr>
            </a:pPr>
            <a:r>
              <a:rPr lang="en-IN" sz="1600" dirty="0"/>
              <a:t>🧠 </a:t>
            </a:r>
            <a:r>
              <a:rPr dirty="0"/>
              <a:t>AI Reduces Bias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31089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/>
              <a:t>Model reads the idea, not the founder.</a:t>
            </a:r>
            <a:br>
              <a:rPr dirty="0"/>
            </a:br>
            <a:r>
              <a:rPr dirty="0"/>
              <a:t>Surfaces 'Hidden Gems' from</a:t>
            </a:r>
            <a:r>
              <a:rPr lang="en-US" dirty="0"/>
              <a:t> non- traditional’s markets that human analysts system overlook.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4297680" y="4114800"/>
            <a:ext cx="34747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4251960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Calibri"/>
              </a:defRPr>
            </a:pPr>
            <a:r>
              <a:rPr lang="en-IN" sz="1600" dirty="0"/>
              <a:t>🎯 </a:t>
            </a:r>
            <a:r>
              <a:rPr dirty="0"/>
              <a:t>85% Hit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754880"/>
            <a:ext cx="31089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/>
              <a:t>Top-10% predictions are overwhelmingly</a:t>
            </a:r>
            <a:br>
              <a:rPr dirty="0"/>
            </a:br>
            <a:r>
              <a:rPr dirty="0"/>
              <a:t>real historical winners</a:t>
            </a:r>
            <a:r>
              <a:rPr lang="en-US" dirty="0"/>
              <a:t> with 85.3%.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8138160" y="4114800"/>
            <a:ext cx="34747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4251960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0A5FA"/>
                </a:solidFill>
                <a:latin typeface="Calibri"/>
              </a:defRPr>
            </a:pPr>
            <a:r>
              <a:rPr lang="en-IN" sz="1600" dirty="0"/>
              <a:t>⚡</a:t>
            </a:r>
            <a:r>
              <a:rPr dirty="0"/>
              <a:t>Real-Time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754880"/>
            <a:ext cx="310896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dirty="0"/>
              <a:t>Sub-50ms inference on standard laptop.</a:t>
            </a:r>
            <a:br>
              <a:rPr dirty="0"/>
            </a:br>
            <a:r>
              <a:rPr dirty="0"/>
              <a:t>No expensive GPUs required</a:t>
            </a:r>
            <a:r>
              <a:rPr lang="en-US" dirty="0"/>
              <a:t> – fully deployable as a screening tool.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Interpreting the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685800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  <a:latin typeface="Calibri"/>
              </a:defRPr>
            </a:pPr>
            <a:r>
              <a:t>Why Late Fusion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64922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lang="en-US" sz="1300" dirty="0"/>
              <a:t>By processing text and numbers </a:t>
            </a:r>
            <a:r>
              <a:rPr lang="en-US" sz="1300" b="1" dirty="0"/>
              <a:t>separately</a:t>
            </a:r>
            <a:r>
              <a:rPr lang="en-US" sz="1300" dirty="0"/>
              <a:t> before combining, we prevent the 384 semantic dimensions from overwhelming the sparse but critical financial signals. The tree-based model can't be "distracted" by thousands of noisy embedding features.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57200" y="3383280"/>
            <a:ext cx="685800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BF24"/>
                </a:solidFill>
                <a:latin typeface="Calibri"/>
              </a:defRPr>
            </a:pPr>
            <a:r>
              <a:t>The Unicorn Centroid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64922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lang="en-US" sz="1300" dirty="0"/>
              <a:t>It accurately captures the "DNA" of historical success. But it inherently </a:t>
            </a:r>
            <a:r>
              <a:rPr lang="en-US" sz="1300" b="1" dirty="0"/>
              <a:t>rewards conformity</a:t>
            </a:r>
            <a:r>
              <a:rPr lang="en-US" sz="1300" dirty="0"/>
              <a:t> to past patterns — truly novel ideas (like AI safety) get penalized because the vocabulary didn't exist in the training data.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57200" y="5212080"/>
            <a:ext cx="685800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0A5FA"/>
                </a:solidFill>
                <a:latin typeface="Calibri"/>
              </a:defRPr>
            </a:pPr>
            <a:r>
              <a:t>Practical 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6492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3B8"/>
                </a:solidFill>
                <a:latin typeface="Calibri"/>
              </a:defRPr>
            </a:pPr>
            <a:r>
              <a:rPr lang="en-US" sz="1300" dirty="0"/>
              <a:t>This is a </a:t>
            </a:r>
            <a:r>
              <a:rPr lang="en-US" sz="1300" b="1" dirty="0"/>
              <a:t>screening tool, not an oracle</a:t>
            </a:r>
            <a:r>
              <a:rPr lang="en-US" sz="1300" dirty="0"/>
              <a:t>. It narrows 48,000 startups → Top 500 → Human review. The AI handles the heavy lifting; humans make the final call.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Investment Screening Funnel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6576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7171"/>
                </a:solidFill>
                <a:latin typeface="Calibri"/>
              </a:defRPr>
            </a:pPr>
            <a:r>
              <a:t>48,000 Startups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2926080"/>
            <a:ext cx="29260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3017520"/>
            <a:ext cx="2926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Calibri"/>
              </a:defRPr>
            </a:pPr>
            <a:r>
              <a:rPr lang="en-IN" sz="1400" b="1" dirty="0"/>
              <a:t>↓ </a:t>
            </a:r>
            <a:r>
              <a:rPr dirty="0"/>
              <a:t>AI Filter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3840480"/>
            <a:ext cx="22860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15400" y="393192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0A5FA"/>
                </a:solidFill>
                <a:latin typeface="Calibri"/>
              </a:defRPr>
            </a:pPr>
            <a:r>
              <a:rPr lang="en-IN" sz="1400" b="1" dirty="0"/>
              <a:t>↓ </a:t>
            </a:r>
            <a:r>
              <a:rPr dirty="0"/>
              <a:t>Top 500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4754880"/>
            <a:ext cx="164592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0" y="4846320"/>
            <a:ext cx="1645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alibri"/>
              </a:defRPr>
            </a:pPr>
            <a:r>
              <a:rPr lang="en-IN" sz="1400" b="1" dirty="0"/>
              <a:t>↓ </a:t>
            </a:r>
            <a:r>
              <a:rPr dirty="0"/>
              <a:t>Human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5669280"/>
            <a:ext cx="10972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0" y="5760720"/>
            <a:ext cx="1097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Calibri"/>
              </a:defRPr>
            </a:pPr>
            <a:r>
              <a:rPr lang="en-IN" sz="1400" b="1" dirty="0"/>
              <a:t>💰 </a:t>
            </a:r>
            <a:r>
              <a:rPr dirty="0"/>
              <a:t>Invest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Honest Boundaries of Our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3035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91639"/>
            <a:ext cx="49377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Calibri"/>
              </a:defRPr>
            </a:pPr>
            <a:r>
              <a:rPr lang="en-IN" sz="1700" b="1" dirty="0"/>
              <a:t>⚠️ </a:t>
            </a:r>
            <a:r>
              <a:rPr dirty="0"/>
              <a:t>Target Variable Ambiguity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lang="en-US" sz="1400" dirty="0"/>
              <a:t>"Operating" ≠ "Thriving." Some companies labeled as success are just surviving on their last runway.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91639"/>
            <a:ext cx="49377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Calibri"/>
              </a:defRPr>
            </a:pPr>
            <a:r>
              <a:rPr lang="en-IN" sz="1700" b="1" dirty="0"/>
              <a:t>⚠️ </a:t>
            </a:r>
            <a:r>
              <a:rPr dirty="0"/>
              <a:t>Historical Language 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lang="en-US" sz="1400" dirty="0"/>
              <a:t>Model rewards language similar to </a:t>
            </a:r>
            <a:r>
              <a:rPr lang="en-US" sz="1400" i="1" dirty="0"/>
              <a:t>past</a:t>
            </a:r>
            <a:r>
              <a:rPr lang="en-US" sz="1400" dirty="0"/>
              <a:t> winners. Truly revolutionary ideas with new vocabulary may be undervalued.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53035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49377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Calibri"/>
              </a:defRPr>
            </a:pPr>
            <a:r>
              <a:rPr lang="en-IN" sz="1700" b="1" dirty="0"/>
              <a:t>⚠️ </a:t>
            </a:r>
            <a:r>
              <a:rPr dirty="0"/>
              <a:t>Small Live Test (N=6)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lang="en-US" sz="1400" dirty="0"/>
              <a:t>OOD validation on only 6 companies. Results are qualitatively strong but not statistically conclusive.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3035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251960"/>
            <a:ext cx="49377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Calibri"/>
              </a:defRPr>
            </a:pPr>
            <a:r>
              <a:rPr lang="en-IN" sz="1700" b="1" dirty="0"/>
              <a:t>⚠️ </a:t>
            </a:r>
            <a:r>
              <a:rPr dirty="0"/>
              <a:t>Single Centroid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54880"/>
            <a:ext cx="49377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lang="en-US" sz="1400" dirty="0"/>
              <a:t>One universal "success template" averages together SaaS, Biotech, and Hardware vocabularies — washing out sector-specific signals.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Where This Research Goes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3035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91639"/>
            <a:ext cx="49377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0A5FA"/>
                </a:solidFill>
                <a:latin typeface="Calibri"/>
              </a:defRPr>
            </a:pPr>
            <a:r>
              <a:rPr lang="en-IN" sz="1700" b="1" dirty="0"/>
              <a:t>🎯 </a:t>
            </a:r>
            <a:r>
              <a:rPr dirty="0"/>
              <a:t>Multi-Centroid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49377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94A3B8"/>
                </a:solidFill>
                <a:latin typeface="Calibri"/>
              </a:defRPr>
            </a:pPr>
            <a:r>
              <a:rPr lang="en-US" sz="1500" dirty="0"/>
              <a:t>Build sector-specific success "DNA" — separate templates for AI, Biotech, Fintech, and Hardware startups.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91639"/>
            <a:ext cx="49377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Calibri"/>
              </a:defRPr>
            </a:pPr>
            <a:r>
              <a:rPr lang="en-IN" sz="1700" b="1" dirty="0"/>
              <a:t>📈 </a:t>
            </a:r>
            <a:r>
              <a:rPr dirty="0"/>
              <a:t>Embedding Velocity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9377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94A3B8"/>
                </a:solidFill>
                <a:latin typeface="Calibri"/>
              </a:defRPr>
            </a:pPr>
            <a:r>
              <a:rPr lang="en-US" sz="1500" dirty="0"/>
              <a:t>Track how a startup's description </a:t>
            </a:r>
            <a:r>
              <a:rPr lang="en-US" sz="1500" b="1" dirty="0"/>
              <a:t>evolves</a:t>
            </a:r>
            <a:r>
              <a:rPr lang="en-US" sz="1500" dirty="0"/>
              <a:t> across funding rounds to detect strategic pivots before they show in revenue.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53035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49377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78BFA"/>
                </a:solidFill>
                <a:latin typeface="Calibri"/>
              </a:defRPr>
            </a:pPr>
            <a:r>
              <a:rPr lang="en-IN" sz="1700" b="1" dirty="0"/>
              <a:t>🧠 </a:t>
            </a:r>
            <a:r>
              <a:rPr dirty="0"/>
              <a:t>Explainability (SHAP/LIME)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49377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94A3B8"/>
                </a:solidFill>
                <a:latin typeface="Calibri"/>
              </a:defRPr>
            </a:pPr>
            <a:r>
              <a:rPr lang="en-US" sz="1500" dirty="0"/>
              <a:t>Show investors exactly </a:t>
            </a:r>
            <a:r>
              <a:rPr lang="en-US" sz="1500" b="1" dirty="0"/>
              <a:t>which words</a:t>
            </a:r>
            <a:r>
              <a:rPr lang="en-US" sz="1500" dirty="0"/>
              <a:t> in a description drive the score up or down for full transparency.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3035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251960"/>
            <a:ext cx="49377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72B6"/>
                </a:solidFill>
                <a:latin typeface="Calibri"/>
              </a:defRPr>
            </a:pPr>
            <a:r>
              <a:rPr lang="en-IN" sz="1700" b="1" dirty="0"/>
              <a:t>🔬 </a:t>
            </a:r>
            <a:r>
              <a:rPr dirty="0"/>
              <a:t>Domain Fine-Tuning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54880"/>
            <a:ext cx="49377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94A3B8"/>
                </a:solidFill>
                <a:latin typeface="Calibri"/>
              </a:defRPr>
            </a:pPr>
            <a:r>
              <a:rPr lang="en-US" sz="1500" dirty="0"/>
              <a:t>Fine-tune Sentence-BERT specifically on </a:t>
            </a:r>
            <a:r>
              <a:rPr lang="en-US" sz="1500" b="1" dirty="0"/>
              <a:t>VC investment memos</a:t>
            </a:r>
            <a:r>
              <a:rPr lang="en-US" sz="1500" dirty="0"/>
              <a:t> for higher-fidelity domain-specific embeddings.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The Bottom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34D399"/>
                </a:solidFill>
                <a:latin typeface="Calibri"/>
              </a:defRPr>
            </a:pPr>
            <a:r>
              <a:t>0.740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ROC-AUC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47472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1554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60A5FA"/>
                </a:solidFill>
                <a:latin typeface="Calibri"/>
              </a:defRPr>
            </a:pPr>
            <a:r>
              <a:t>85.3%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48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Top Precision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63040"/>
            <a:ext cx="347472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1554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A78BFA"/>
                </a:solidFill>
                <a:latin typeface="Calibri"/>
              </a:defRPr>
            </a:pPr>
            <a:r>
              <a:t>47,833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48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Startups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49543"/>
            <a:ext cx="6094890" cy="223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50"/>
              </a:spcAft>
              <a:buFont typeface="Arial" panose="020B0604020202020204" pitchFamily="34" charset="0"/>
              <a:buChar char="•"/>
              <a:defRPr sz="1700" b="0">
                <a:solidFill>
                  <a:srgbClr val="34D399"/>
                </a:solidFill>
                <a:latin typeface="Calibri"/>
              </a:defRPr>
            </a:pPr>
            <a:r>
              <a:rPr dirty="0"/>
              <a:t>Built a complete, production-ready AI investment platform</a:t>
            </a:r>
          </a:p>
          <a:p>
            <a:pPr marL="285750" indent="-285750">
              <a:spcAft>
                <a:spcPts val="850"/>
              </a:spcAft>
              <a:buFont typeface="Arial" panose="020B0604020202020204" pitchFamily="34" charset="0"/>
              <a:buChar char="•"/>
              <a:defRPr sz="1700" b="0">
                <a:solidFill>
                  <a:srgbClr val="34D399"/>
                </a:solidFill>
                <a:latin typeface="Calibri"/>
              </a:defRPr>
            </a:pPr>
            <a:r>
              <a:rPr dirty="0"/>
              <a:t>Novel Dual-Encoder Fusion outperforms all baselines by 10%</a:t>
            </a:r>
          </a:p>
          <a:p>
            <a:pPr marL="285750" indent="-285750">
              <a:spcAft>
                <a:spcPts val="850"/>
              </a:spcAft>
              <a:buFont typeface="Arial" panose="020B0604020202020204" pitchFamily="34" charset="0"/>
              <a:buChar char="•"/>
              <a:defRPr sz="1700" b="0">
                <a:solidFill>
                  <a:srgbClr val="34D399"/>
                </a:solidFill>
                <a:latin typeface="Calibri"/>
              </a:defRPr>
            </a:pPr>
            <a:r>
              <a:rPr dirty="0"/>
              <a:t>Ablation-validated 60/40 financial-to-semantic weighting</a:t>
            </a:r>
          </a:p>
          <a:p>
            <a:pPr marL="285750" indent="-285750">
              <a:spcAft>
                <a:spcPts val="850"/>
              </a:spcAft>
              <a:buFont typeface="Arial" panose="020B0604020202020204" pitchFamily="34" charset="0"/>
              <a:buChar char="•"/>
              <a:defRPr sz="1700" b="0">
                <a:solidFill>
                  <a:srgbClr val="34D399"/>
                </a:solidFill>
                <a:latin typeface="Calibri"/>
              </a:defRPr>
            </a:pPr>
            <a:r>
              <a:rPr dirty="0"/>
              <a:t>Successfully predicted </a:t>
            </a:r>
            <a:r>
              <a:rPr dirty="0" err="1"/>
              <a:t>xAI</a:t>
            </a:r>
            <a:r>
              <a:rPr dirty="0"/>
              <a:t> (99%) - unseen 2024 company</a:t>
            </a:r>
          </a:p>
          <a:p>
            <a:pPr marL="285750" indent="-285750">
              <a:spcAft>
                <a:spcPts val="850"/>
              </a:spcAft>
              <a:buFont typeface="Arial" panose="020B0604020202020204" pitchFamily="34" charset="0"/>
              <a:buChar char="•"/>
              <a:defRPr sz="1700" b="0">
                <a:solidFill>
                  <a:srgbClr val="34D399"/>
                </a:solidFill>
                <a:latin typeface="Calibri"/>
              </a:defRPr>
            </a:pPr>
            <a:r>
              <a:rPr dirty="0"/>
              <a:t>Live </a:t>
            </a:r>
            <a:r>
              <a:rPr dirty="0" err="1"/>
              <a:t>Streamlit</a:t>
            </a:r>
            <a:r>
              <a:rPr dirty="0"/>
              <a:t> dashboard with real-time news integration</a:t>
            </a:r>
          </a:p>
          <a:p>
            <a:pPr marL="285750" indent="-285750">
              <a:spcAft>
                <a:spcPts val="850"/>
              </a:spcAft>
              <a:buFont typeface="Arial" panose="020B0604020202020204" pitchFamily="34" charset="0"/>
              <a:buChar char="•"/>
              <a:defRPr sz="1700" b="0">
                <a:solidFill>
                  <a:srgbClr val="34D399"/>
                </a:solidFill>
                <a:latin typeface="Calibri"/>
              </a:defRPr>
            </a:pPr>
            <a:r>
              <a:rPr dirty="0"/>
              <a:t>Star Schema data warehouse with automated ETL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486400"/>
            <a:ext cx="941832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557784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8FAFC"/>
                </a:solidFill>
                <a:latin typeface="Calibri"/>
              </a:defRPr>
            </a:pPr>
            <a:r>
              <a:t>"The words founders choose to describe their companies contain genuine,</a:t>
            </a:r>
            <a:br/>
            <a:r>
              <a:t>measurable predictive power - but only when anchored in financial reality."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REFERENCES (APA FORMAT)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54258"/>
            <a:ext cx="6858000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+mj-lt"/>
              <a:buAutoNum type="romanUcPeriod"/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dirty="0"/>
              <a:t>Arroyo, J., Corea, F., Jimenez-Diaz, G., &amp; Recio-Garcia, J. A. (2019). Assessment of machine learning</a:t>
            </a:r>
            <a:r>
              <a:rPr lang="en-US" dirty="0"/>
              <a:t> </a:t>
            </a:r>
            <a:r>
              <a:rPr dirty="0"/>
              <a:t>performance for decision support in venture capital investments. IEEE Access, 7, 124233-124243.</a:t>
            </a:r>
          </a:p>
          <a:p>
            <a:pPr marL="285750" indent="-285750">
              <a:spcAft>
                <a:spcPts val="500"/>
              </a:spcAft>
              <a:buFont typeface="+mj-lt"/>
              <a:buAutoNum type="romanUcPeriod"/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dirty="0" err="1"/>
              <a:t>Breiman</a:t>
            </a:r>
            <a:r>
              <a:rPr dirty="0"/>
              <a:t>, L. (2001). Random forests. Machine Learning, 45(1), 5-32. https://doi.org/10.1023/A:1010933404324</a:t>
            </a:r>
          </a:p>
          <a:p>
            <a:pPr marL="285750" indent="-285750">
              <a:spcAft>
                <a:spcPts val="500"/>
              </a:spcAft>
              <a:buFont typeface="+mj-lt"/>
              <a:buAutoNum type="romanUcPeriod"/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dirty="0"/>
              <a:t>Chawla, N. V., Bowyer, K. W., Hall, L. O., &amp; </a:t>
            </a:r>
            <a:r>
              <a:rPr dirty="0" err="1"/>
              <a:t>Kegelmeyer</a:t>
            </a:r>
            <a:r>
              <a:rPr dirty="0"/>
              <a:t>, W. P. (2002). SMOTE: Synthetic minority</a:t>
            </a:r>
            <a:r>
              <a:rPr lang="en-US" dirty="0"/>
              <a:t> </a:t>
            </a:r>
            <a:r>
              <a:rPr dirty="0"/>
              <a:t>over-sampling technique. JAIR, 16, 321-357. https://doi.org/10.1613/jair.953</a:t>
            </a:r>
          </a:p>
          <a:p>
            <a:pPr marL="285750" indent="-285750">
              <a:spcAft>
                <a:spcPts val="500"/>
              </a:spcAft>
              <a:buFont typeface="+mj-lt"/>
              <a:buAutoNum type="romanUcPeriod"/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dirty="0"/>
              <a:t>Chen, T., &amp; </a:t>
            </a:r>
            <a:r>
              <a:rPr dirty="0" err="1"/>
              <a:t>Guestrin</a:t>
            </a:r>
            <a:r>
              <a:rPr dirty="0"/>
              <a:t>, C. (2016). </a:t>
            </a:r>
            <a:r>
              <a:rPr dirty="0" err="1"/>
              <a:t>XGBoost</a:t>
            </a:r>
            <a:r>
              <a:rPr dirty="0"/>
              <a:t>: A scalable tree boosting system. In KDD (pp. 785-794).</a:t>
            </a:r>
          </a:p>
          <a:p>
            <a:pPr marL="285750" indent="-285750">
              <a:spcAft>
                <a:spcPts val="500"/>
              </a:spcAft>
              <a:buFont typeface="+mj-lt"/>
              <a:buAutoNum type="romanUcPeriod"/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dirty="0"/>
              <a:t>Devlin, J., Chang, M.-W., Lee, K., &amp; Toutanova, K. (2019). BERT: Pretraining of deep bidirectional transformers. In NAACL-HLT (pp. 4171-4186). https://doi.org/10.18653/v1/N19-1423</a:t>
            </a:r>
          </a:p>
          <a:p>
            <a:pPr marL="285750" indent="-285750">
              <a:spcAft>
                <a:spcPts val="500"/>
              </a:spcAft>
              <a:buFont typeface="+mj-lt"/>
              <a:buAutoNum type="romanUcPeriod"/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dirty="0"/>
              <a:t>Gompers, P., &amp; Lerner, J. (2001). The venture capital revolution. Journal of Economic Perspectives,</a:t>
            </a:r>
            <a:r>
              <a:rPr lang="en-US" dirty="0"/>
              <a:t> </a:t>
            </a:r>
            <a:r>
              <a:rPr dirty="0"/>
              <a:t>15(2), 145-168. https://doi.org/10.1257/jep.15.2.145</a:t>
            </a:r>
          </a:p>
          <a:p>
            <a:pPr marL="285750" indent="-285750">
              <a:spcAft>
                <a:spcPts val="500"/>
              </a:spcAft>
              <a:buFont typeface="+mj-lt"/>
              <a:buAutoNum type="romanUcPeriod"/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dirty="0"/>
              <a:t>Reimers, N., &amp; </a:t>
            </a:r>
            <a:r>
              <a:rPr dirty="0" err="1"/>
              <a:t>Gurevych</a:t>
            </a:r>
            <a:r>
              <a:rPr dirty="0"/>
              <a:t>, I. (2019). Sentence-BERT: Sentence embeddings using Siamese BERT.</a:t>
            </a:r>
            <a:r>
              <a:rPr lang="en-US" dirty="0"/>
              <a:t> </a:t>
            </a:r>
            <a:r>
              <a:rPr dirty="0"/>
              <a:t>In EMNLP-IJCNLP (pp. 3982-3992). https://doi.org/10.18653/v1/D19-1410</a:t>
            </a:r>
          </a:p>
          <a:p>
            <a:pPr marL="285750" indent="-285750">
              <a:spcAft>
                <a:spcPts val="500"/>
              </a:spcAft>
              <a:buFont typeface="+mj-lt"/>
              <a:buAutoNum type="romanUcPeriod"/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dirty="0"/>
              <a:t>Vaswani, A., et al. (2017). Attention is all you need. In </a:t>
            </a:r>
            <a:r>
              <a:rPr dirty="0" err="1"/>
              <a:t>NeurIPS</a:t>
            </a:r>
            <a:r>
              <a:rPr dirty="0"/>
              <a:t> (pp. 5998-6008).</a:t>
            </a:r>
          </a:p>
          <a:p>
            <a:pPr marL="285750" indent="-285750">
              <a:spcAft>
                <a:spcPts val="500"/>
              </a:spcAft>
              <a:buFont typeface="+mj-lt"/>
              <a:buAutoNum type="romanUcPeriod"/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dirty="0"/>
              <a:t>Baltrusaitis, T., Ahuja, C., &amp; Morency, L.-P. (2019). Multimodal machine learning: A survey.</a:t>
            </a:r>
            <a:r>
              <a:rPr lang="en-US" dirty="0"/>
              <a:t> </a:t>
            </a:r>
            <a:r>
              <a:rPr dirty="0"/>
              <a:t>IEEE TPAMI, 41(2), 423-443. https://doi.org/10.1109/TPAMI.2018.2798607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42355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Calibri"/>
              </a:defRPr>
            </a:pPr>
            <a:r>
              <a:rPr dirty="0"/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2274246"/>
            <a:ext cx="210312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3023657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  <a:latin typeface="Calibri"/>
              </a:defRPr>
            </a:pPr>
            <a:r>
              <a:rPr dirty="0"/>
              <a:t>Annanahmed Shaikh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566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shaikha4@wit.edu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88834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dirty="0"/>
              <a:t>Wentworth Institute of Technology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846320"/>
            <a:ext cx="32004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489204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Calibri"/>
              </a:defRPr>
            </a:pPr>
            <a:r>
              <a:rPr dirty="0"/>
              <a:t>GitHub: </a:t>
            </a:r>
            <a:r>
              <a:rPr dirty="0">
                <a:hlinkClick r:id="rId2"/>
              </a:rPr>
              <a:t>Project Repository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8229600" y="5577840"/>
            <a:ext cx="32004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562356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4D399"/>
                </a:solidFill>
                <a:latin typeface="Calibri"/>
              </a:defRPr>
            </a:pPr>
            <a:r>
              <a:rPr dirty="0"/>
              <a:t>Live Demo: </a:t>
            </a:r>
            <a:r>
              <a:rPr dirty="0" err="1">
                <a:hlinkClick r:id="rId3"/>
              </a:rPr>
              <a:t>Streamlit</a:t>
            </a:r>
            <a:r>
              <a:rPr dirty="0">
                <a:hlinkClick r:id="rId3"/>
              </a:rPr>
              <a:t> Cloud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175230" y="492241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  <a:latin typeface="Calibri"/>
              </a:defRPr>
            </a:pPr>
            <a:r>
              <a:rPr dirty="0"/>
              <a:t>Questions</a:t>
            </a:r>
            <a:r>
              <a:rPr lang="en-US" dirty="0"/>
              <a:t> </a:t>
            </a:r>
            <a:r>
              <a:rPr dirty="0"/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1891</Words>
  <Application>Microsoft Office PowerPoint</Application>
  <PresentationFormat>Widescreen</PresentationFormat>
  <Paragraphs>209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SHAIKH ANNANAHMED</dc:creator>
  <cp:keywords/>
  <dc:description>generated using python-pptx</dc:description>
  <cp:lastModifiedBy>Shaikh, Annanahmed Furkanahmed</cp:lastModifiedBy>
  <cp:revision>3</cp:revision>
  <dcterms:created xsi:type="dcterms:W3CDTF">2013-01-27T09:14:16Z</dcterms:created>
  <dcterms:modified xsi:type="dcterms:W3CDTF">2026-04-06T15:13:18Z</dcterms:modified>
  <cp:category/>
</cp:coreProperties>
</file>